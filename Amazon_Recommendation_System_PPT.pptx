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Rating Distribution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Ratings</c:v>
                </c:pt>
              </c:strCache>
            </c:strRef>
          </c:tx>
          <c:spPr>
            <a:solidFill>
              <a:srgbClr val="E05C5C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E07A5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C5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FC3F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</c:v>
                </c:pt>
                <c:pt idx="1">
                  <c:v>1.3</c:v>
                </c:pt>
                <c:pt idx="2">
                  <c:v>7.5</c:v>
                </c:pt>
                <c:pt idx="3">
                  <c:v>26.3</c:v>
                </c:pt>
                <c:pt idx="4">
                  <c:v>57.3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9B-4744-AC12-67814EB09C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2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22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Overall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Decision Tree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82.65</c:v>
                </c:pt>
                <c:pt idx="1">
                  <c:v>87.23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ED-1046-995C-23F22974A8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78"/>
        </c:scaling>
        <c:delete val="0"/>
        <c:axPos val="l"/>
        <c:majorGridlines>
          <c:spPr>
            <a:ln w="6350" cap="flat">
              <a:solidFill>
                <a:srgbClr val="1E3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2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022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Detailed Metrics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4FC3F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 (Liked)</c:v>
                </c:pt>
                <c:pt idx="1">
                  <c:v>Recall (Not Liked)</c:v>
                </c:pt>
                <c:pt idx="2">
                  <c:v>F1 (Liked)</c:v>
                </c:pt>
                <c:pt idx="3">
                  <c:v>F1 (Not Liked)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</c:v>
                </c:pt>
                <c:pt idx="1">
                  <c:v>0.53</c:v>
                </c:pt>
                <c:pt idx="2">
                  <c:v>0.89</c:v>
                </c:pt>
                <c:pt idx="3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2-0549-9F64-C35889FE5B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 (Liked)</c:v>
                </c:pt>
                <c:pt idx="1">
                  <c:v>Recall (Not Liked)</c:v>
                </c:pt>
                <c:pt idx="2">
                  <c:v>F1 (Liked)</c:v>
                </c:pt>
                <c:pt idx="3">
                  <c:v>F1 (Not Liked)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0.95</c:v>
                </c:pt>
                <c:pt idx="1">
                  <c:v>0.52</c:v>
                </c:pt>
                <c:pt idx="2">
                  <c:v>0.92</c:v>
                </c:pt>
                <c:pt idx="3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A2-0549-9F64-C35889FE5B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F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0223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EAFC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0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E863A-81CE-514D-BDCB-9C8A2CF6556B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12DE2-84D7-6247-BEC9-EC6375DE8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9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14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553212" cy="301752"/>
          </a:xfrm>
          <a:prstGeom prst="roundRect">
            <a:avLst>
              <a:gd name="adj" fmla="val 2121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06040"/>
            <a:ext cx="5532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4732" y="2606040"/>
            <a:ext cx="1097280" cy="301752"/>
          </a:xfrm>
          <a:prstGeom prst="roundRect">
            <a:avLst>
              <a:gd name="adj" fmla="val 21212"/>
            </a:avLst>
          </a:prstGeom>
          <a:solidFill>
            <a:srgbClr val="1A6E8A"/>
          </a:solidFill>
          <a:ln w="12700">
            <a:solidFill>
              <a:srgbClr val="1A6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4732" y="26060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9172" y="2606040"/>
            <a:ext cx="2107692" cy="301752"/>
          </a:xfrm>
          <a:prstGeom prst="roundRect">
            <a:avLst>
              <a:gd name="adj" fmla="val 21212"/>
            </a:avLst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9172" y="2606040"/>
            <a:ext cx="21076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64024" y="2606040"/>
            <a:ext cx="1641348" cy="301752"/>
          </a:xfrm>
          <a:prstGeom prst="roundRect">
            <a:avLst>
              <a:gd name="adj" fmla="val 2121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2606040"/>
            <a:ext cx="16413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200400"/>
            <a:ext cx="1920240" cy="1097280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310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9436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Ratings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200400"/>
            <a:ext cx="1920240" cy="1097280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3310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65176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Filtering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1920240" cy="1097280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3310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0916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3200400"/>
            <a:ext cx="1920240" cy="1097280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33101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87.23%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66560" y="3767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Team of 5  ·  May 2026  ·  Python | Scikit-learn | Pandas | Jupyter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why it matters, and how the pipeline works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069080" cy="3474720"/>
          </a:xfrm>
          <a:prstGeom prst="rect">
            <a:avLst/>
          </a:prstGeom>
          <a:solidFill>
            <a:srgbClr val="10223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on real Amazon ratings data.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7.8 million raw ratings, we built: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cleaning &amp; filtering pipeline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with 5 key visualizations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clustering (3 algorithms compared)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recommendation engine using Cosine Similarity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 to predict if a user will like a product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36592" y="1115568"/>
            <a:ext cx="4069080" cy="3474720"/>
          </a:xfrm>
          <a:prstGeom prst="rect">
            <a:avLst/>
          </a:prstGeom>
          <a:solidFill>
            <a:srgbClr val="10223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234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at a Glance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19472" y="1664208"/>
            <a:ext cx="310896" cy="310896"/>
          </a:xfrm>
          <a:prstGeom prst="ellipse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0" y="16642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—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36208" y="16642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7.8M rows → drop timestamp → filter actives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19472" y="2249424"/>
            <a:ext cx="310896" cy="310896"/>
          </a:xfrm>
          <a:prstGeom prst="ellipse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22494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224942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distribution, heatmap, long tail analysis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19472" y="2834640"/>
            <a:ext cx="310896" cy="310896"/>
          </a:xfrm>
          <a:prstGeom prst="ellipse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28346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28346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/ Hierarchical / DBSCAN on user behavior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3419856"/>
            <a:ext cx="310896" cy="310896"/>
          </a:xfrm>
          <a:prstGeom prst="ellipse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419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34198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—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34198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User-item matrix → Cosine Similarity → Top-5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4005072"/>
            <a:ext cx="310896" cy="310896"/>
          </a:xfrm>
          <a:prstGeom prst="ellipse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40050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—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4005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vs Random Forest — 87.23% wins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Ratings — what the data looked like before and after cleaning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280160" cy="1097280"/>
          </a:xfrm>
          <a:prstGeom prst="rect">
            <a:avLst/>
          </a:prstGeom>
          <a:solidFill>
            <a:srgbClr val="102233"/>
          </a:solidFill>
          <a:ln w="25400">
            <a:solidFill>
              <a:srgbClr val="8EA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1280160" cy="54864"/>
          </a:xfrm>
          <a:prstGeom prst="rect">
            <a:avLst/>
          </a:prstGeom>
          <a:solidFill>
            <a:srgbClr val="8EAFC4"/>
          </a:solidFill>
          <a:ln w="12700">
            <a:solidFill>
              <a:srgbClr val="8EAF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20482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Ratings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389888"/>
            <a:ext cx="1280160" cy="1097280"/>
          </a:xfrm>
          <a:prstGeom prst="rect">
            <a:avLst/>
          </a:prstGeom>
          <a:solidFill>
            <a:srgbClr val="102233"/>
          </a:solidFill>
          <a:ln w="25400">
            <a:solidFill>
              <a:srgbClr val="8EA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37360" y="1389888"/>
            <a:ext cx="1280160" cy="54864"/>
          </a:xfrm>
          <a:prstGeom prst="rect">
            <a:avLst/>
          </a:prstGeom>
          <a:solidFill>
            <a:srgbClr val="8EAFC4"/>
          </a:solidFill>
          <a:ln w="12700">
            <a:solidFill>
              <a:srgbClr val="8EA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20482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08960" y="1389888"/>
            <a:ext cx="1280160" cy="1097280"/>
          </a:xfrm>
          <a:prstGeom prst="rect">
            <a:avLst/>
          </a:prstGeom>
          <a:solidFill>
            <a:srgbClr val="102233"/>
          </a:solidFill>
          <a:ln w="25400">
            <a:solidFill>
              <a:srgbClr val="8EA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08960" y="1389888"/>
            <a:ext cx="1280160" cy="54864"/>
          </a:xfrm>
          <a:prstGeom prst="rect">
            <a:avLst/>
          </a:prstGeom>
          <a:solidFill>
            <a:srgbClr val="8EAFC4"/>
          </a:solidFill>
          <a:ln w="12700">
            <a:solidFill>
              <a:srgbClr val="8EA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476K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108960" y="20482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3977640" cy="45720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974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AFTER FILTERING  ▼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999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DATASET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280160" cy="1188720"/>
          </a:xfrm>
          <a:prstGeom prst="rect">
            <a:avLst/>
          </a:prstGeom>
          <a:solidFill>
            <a:srgbClr val="102233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73552"/>
            <a:ext cx="1280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381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117K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Kept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37360" y="3273552"/>
            <a:ext cx="1280160" cy="1188720"/>
          </a:xfrm>
          <a:prstGeom prst="rect">
            <a:avLst/>
          </a:prstGeom>
          <a:solidFill>
            <a:srgbClr val="102233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737360" y="3273552"/>
            <a:ext cx="1280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34381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73736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3273552"/>
            <a:ext cx="1280160" cy="1188720"/>
          </a:xfrm>
          <a:prstGeom prst="rect">
            <a:avLst/>
          </a:prstGeom>
          <a:solidFill>
            <a:srgbClr val="102233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08960" y="3273552"/>
            <a:ext cx="12801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4381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39,939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108960" y="3931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1115568"/>
            <a:ext cx="4114800" cy="3474720"/>
          </a:xfrm>
          <a:prstGeom prst="rect">
            <a:avLst/>
          </a:prstGeom>
          <a:solidFill>
            <a:srgbClr val="10223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12344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92040" y="1664208"/>
            <a:ext cx="228600" cy="22860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6642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raw CSV: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user_id, prod_id, rating, timestamp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2194560"/>
            <a:ext cx="228600" cy="22860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21945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timestamp: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24140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to recommendation logic — removed to reduce noise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2724912"/>
            <a:ext cx="228600" cy="22860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7249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values: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29443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nulls — clean dataset, no imputation needed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255264"/>
            <a:ext cx="228600" cy="22860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32552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Users 50+ ratings: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12080" y="34747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active users with meaningful rating history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92040" y="3785616"/>
            <a:ext cx="228600" cy="22860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7856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Products 5+ ratings: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4005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cold-start items with too little data to model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92040" y="4315968"/>
            <a:ext cx="228600" cy="22860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43159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12080" y="45354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7.8M → 117,315 rows · 1,540 users · 39,939 products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 before building any model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9728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097280"/>
            <a:ext cx="3429000" cy="2743200"/>
          </a:xfrm>
          <a:prstGeom prst="rect">
            <a:avLst/>
          </a:prstGeom>
          <a:solidFill>
            <a:srgbClr val="10223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32120" y="121615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532120" y="1572768"/>
            <a:ext cx="9144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572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4.01 / 5.0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65392" y="1572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across all 7.8M rows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32120" y="1993392"/>
            <a:ext cx="9144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3212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5.0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65392" y="19933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half of all ratings are 5 stars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32120" y="2414016"/>
            <a:ext cx="9144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24140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565392" y="24140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that are 5 stars — huge positive skew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32120" y="2834640"/>
            <a:ext cx="9144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2834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65392" y="2834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that are 4 or 5 stars combined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32120" y="3255264"/>
            <a:ext cx="91440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3255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65392" y="32552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of 1 or 2 stars — response bias confirmed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4069080"/>
            <a:ext cx="8412480" cy="694944"/>
          </a:xfrm>
          <a:prstGeom prst="rect">
            <a:avLst/>
          </a:prstGeom>
          <a:solidFill>
            <a:srgbClr val="0A2235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66928" y="4160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536192" y="4160520"/>
            <a:ext cx="704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bother rating usually liked the product. Unhappy customers rarely leave ratings — a classic response bias. This skew must be accounted for before modeling, and also explains why Cosine Similarity (which ignores zeros) is ideal for this sparse matrix.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Clustering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users by behaviour — comparing 3 algorithms to find the best fit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530352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avg_rating  ·  rating_count  (both scaled with StandardScaler)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2697480" cy="2944368"/>
          </a:xfrm>
          <a:prstGeom prst="rect">
            <a:avLst/>
          </a:prstGeom>
          <a:solidFill>
            <a:srgbClr val="102233"/>
          </a:solidFill>
          <a:ln w="25400">
            <a:solidFill>
              <a:srgbClr val="8EA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55648"/>
            <a:ext cx="2697480" cy="54864"/>
          </a:xfrm>
          <a:prstGeom prst="rect">
            <a:avLst/>
          </a:prstGeom>
          <a:solidFill>
            <a:srgbClr val="8EAFC4"/>
          </a:solidFill>
          <a:ln w="12700">
            <a:solidFill>
              <a:srgbClr val="8EAF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" y="22494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0.4433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5488" y="2834640"/>
            <a:ext cx="2478024" cy="18288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5488" y="3163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clusters: Low / Average / Active users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5112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Elbow Method + Silhouette Score to pick k. Decent but not the best.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4334256"/>
            <a:ext cx="2478024" cy="256032"/>
          </a:xfrm>
          <a:prstGeom prst="rect">
            <a:avLst/>
          </a:prstGeom>
          <a:solidFill>
            <a:srgbClr val="1E2A35"/>
          </a:solidFill>
          <a:ln w="12700">
            <a:solidFill>
              <a:srgbClr val="8EA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334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755648"/>
            <a:ext cx="2697480" cy="2944368"/>
          </a:xfrm>
          <a:prstGeom prst="rect">
            <a:avLst/>
          </a:prstGeom>
          <a:solidFill>
            <a:srgbClr val="102233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755648"/>
            <a:ext cx="26974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10128" y="22494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10128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0.5796 ✓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310128" y="2834640"/>
            <a:ext cx="2478024" cy="18288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clusters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3163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clean clusters — Best separation found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35112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Ward linkage + dendrogram. Highest silhouette score — winner!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10128" y="4334256"/>
            <a:ext cx="2478024" cy="256032"/>
          </a:xfrm>
          <a:prstGeom prst="rect">
            <a:avLst/>
          </a:prstGeom>
          <a:solidFill>
            <a:srgbClr val="0A2A2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4334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Winner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755648"/>
            <a:ext cx="2697480" cy="2944368"/>
          </a:xfrm>
          <a:prstGeom prst="rect">
            <a:avLst/>
          </a:prstGeom>
          <a:solidFill>
            <a:srgbClr val="102233"/>
          </a:solidFill>
          <a:ln w="254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755648"/>
            <a:ext cx="269748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18653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44768" y="224942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44768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144768" y="2834640"/>
            <a:ext cx="2478024" cy="18288"/>
          </a:xfrm>
          <a:prstGeom prst="rect">
            <a:avLst/>
          </a:prstGeom>
          <a:solidFill>
            <a:srgbClr val="2D4A63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cluster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44768" y="31638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cluster found — classified almost all as noise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35112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density-based in 2D feature space. Not suitable here.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44768" y="4334256"/>
            <a:ext cx="2478024" cy="256032"/>
          </a:xfrm>
          <a:prstGeom prst="rect">
            <a:avLst/>
          </a:prstGeom>
          <a:solidFill>
            <a:srgbClr val="2A0A0A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433425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User-Based Collaborative Filtering using Cosine Similarity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1600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2070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1,540 × 39,939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matrix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56816" y="1664208"/>
            <a:ext cx="118872" cy="128016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115568"/>
            <a:ext cx="1600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84832" y="12070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84832" y="17190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1,540 × 1,540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sim matrix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94176" y="1664208"/>
            <a:ext cx="118872" cy="128016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1115568"/>
            <a:ext cx="1600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22192" y="12070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Users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22192" y="17190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similarity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self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31536" y="1664208"/>
            <a:ext cx="118872" cy="128016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1115568"/>
            <a:ext cx="1600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59552" y="12070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Unseen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59552" y="17190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already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items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68896" y="1664208"/>
            <a:ext cx="118872" cy="128016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115568"/>
            <a:ext cx="1600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96912" y="12070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96912" y="17190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2542032"/>
            <a:ext cx="4133088" cy="2286000"/>
          </a:xfrm>
          <a:prstGeom prst="rect">
            <a:avLst/>
          </a:prstGeom>
          <a:solidFill>
            <a:srgbClr val="10223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Cosine Similarity Works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" y="3017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each user as a vector of their product ratings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two user vectors (0 = identical, 1 = opposite)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 — ignores 0s (unrated products), perfect for sparse matrices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1540 × 1540 similarity matrix = every user pair compared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similar users found → their 5-star picks become recommendations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81728" y="2542032"/>
            <a:ext cx="4133088" cy="2286000"/>
          </a:xfrm>
          <a:prstGeom prst="rect">
            <a:avLst/>
          </a:prstGeom>
          <a:solidFill>
            <a:srgbClr val="10223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26700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Sample Recommendation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4608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user: A3BY5KCNQZXV5U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64608" y="3364992"/>
            <a:ext cx="3401568" cy="237744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383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34656" y="33832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★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64608" y="3639312"/>
            <a:ext cx="3401568" cy="237744"/>
          </a:xfrm>
          <a:prstGeom prst="rect">
            <a:avLst/>
          </a:prstGeom>
          <a:solidFill>
            <a:srgbClr val="0E1C2C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534656" y="36576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64608" y="3913632"/>
            <a:ext cx="3401568" cy="237744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931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34656" y="39319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64608" y="4187952"/>
            <a:ext cx="3401568" cy="237744"/>
          </a:xfrm>
          <a:prstGeom prst="rect">
            <a:avLst/>
          </a:prstGeom>
          <a:solidFill>
            <a:srgbClr val="0E1C2C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4206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34656" y="4206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64608" y="4462272"/>
            <a:ext cx="3401568" cy="237744"/>
          </a:xfrm>
          <a:prstGeom prst="rect">
            <a:avLst/>
          </a:prstGeom>
          <a:solidFill>
            <a:srgbClr val="0A1520"/>
          </a:solidFill>
          <a:ln w="12700">
            <a:solidFill>
              <a:srgbClr val="2D4A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44805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4656" y="44805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★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whether a user will like a product — framed as binary classification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548640"/>
          </a:xfrm>
          <a:prstGeom prst="rect">
            <a:avLst/>
          </a:prstGeom>
          <a:solidFill>
            <a:srgbClr val="0A152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Framing: 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29968" y="1225296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≥ 4  →  Liked (1)     |     Rating &lt; 4  →  Not Liked (0)     |     Binary Classification Task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977640" cy="1572768"/>
          </a:xfrm>
          <a:prstGeom prst="rect">
            <a:avLst/>
          </a:prstGeom>
          <a:solidFill>
            <a:srgbClr val="102233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(4)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713232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317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user_enc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71600" y="2331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User 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713232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060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prod_enc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Product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713232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user_avg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average rating (behaviour signal)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54680"/>
            <a:ext cx="713232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546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prod_avg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1546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Product's average rating (quality signal)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1847088"/>
            <a:ext cx="4251960" cy="1572768"/>
          </a:xfrm>
          <a:prstGeom prst="rect">
            <a:avLst/>
          </a:prstGeom>
          <a:solidFill>
            <a:srgbClr val="10223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359152"/>
            <a:ext cx="1874520" cy="896112"/>
          </a:xfrm>
          <a:prstGeom prst="rect">
            <a:avLst/>
          </a:prstGeom>
          <a:solidFill>
            <a:srgbClr val="0A1520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423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09160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29809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93,852 rows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20840" y="2359152"/>
            <a:ext cx="1874520" cy="896112"/>
          </a:xfrm>
          <a:prstGeom prst="rect">
            <a:avLst/>
          </a:prstGeom>
          <a:solidFill>
            <a:srgbClr val="0A1520"/>
          </a:solidFill>
          <a:ln w="12700">
            <a:solidFill>
              <a:srgbClr val="8EA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4231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720840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29809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23,463 rows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8412480" cy="1298448"/>
          </a:xfrm>
          <a:prstGeom prst="rect">
            <a:avLst/>
          </a:prstGeom>
          <a:solidFill>
            <a:srgbClr val="102233"/>
          </a:solidFill>
          <a:ln w="12700">
            <a:solidFill>
              <a:srgbClr val="2D4A6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6758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40050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97480" y="40050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69080" y="4005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(Liked)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32120" y="40050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(Not Liked)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69480" y="40050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279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9748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82.65%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69080" y="42793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32120" y="4279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69480" y="4279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 — baseline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581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(100 trees)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97480" y="4581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87.23%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69080" y="4581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32120" y="4581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269480" y="4581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— use this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Visual Comparison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vs Random Forest across all key metrics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09728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645152" y="1097280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712464"/>
            <a:ext cx="8412480" cy="1051560"/>
          </a:xfrm>
          <a:prstGeom prst="rect">
            <a:avLst/>
          </a:prstGeom>
          <a:solidFill>
            <a:srgbClr val="0A1A2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wins: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41330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 vote together, cancelling out individual overfitting.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of 0.95 on 'liked' class means it almost never misses a product the user would enjoy.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+4.58% accuracy improvement over Decision Tree on unseen test data.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Key Learnings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wrong, what we discovered, and what we'd do differently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297680" cy="1243584"/>
          </a:xfrm>
          <a:prstGeom prst="rect">
            <a:avLst/>
          </a:prstGeom>
          <a:solidFill>
            <a:srgbClr val="102233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29768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252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Sparsity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179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user-item matrix had 7.8M rows but still had massive sparsity — most users hadn't rated most products. Cosine Similarity was specifically chosen because it treats unrated items as zeros and measures direction, not magnitude.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4297680" cy="1243584"/>
          </a:xfrm>
          <a:prstGeom prst="rect">
            <a:avLst/>
          </a:prstGeom>
          <a:solidFill>
            <a:srgbClr val="102233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15568"/>
            <a:ext cx="429768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252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Bias in Ratings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5179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ratings are 5-star — satisfied customers rate, dissatisfied customers don't. This skews the model toward predicting 'liked'. The classifier's lower precision for class 0 (Not Liked) directly reflects this imbalance.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4297680" cy="1243584"/>
          </a:xfrm>
          <a:prstGeom prst="rect">
            <a:avLst/>
          </a:prstGeom>
          <a:solidFill>
            <a:srgbClr val="102233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50592"/>
            <a:ext cx="429768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60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529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fewer than 50 ratings and products with fewer than 5 ratings were filtered out. Without history, collaborative filtering simply cannot work — filtering was the pragmatic fix, though it leaves 98% of users uncovered.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450592"/>
            <a:ext cx="4297680" cy="1243584"/>
          </a:xfrm>
          <a:prstGeom prst="rect">
            <a:avLst/>
          </a:prstGeom>
          <a:solidFill>
            <a:srgbClr val="102233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50592"/>
            <a:ext cx="42976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5603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Failure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8529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found only 1 cluster and labeled most points as noise. The feature space (avg_rating × rating_count) isn't density-separated enough for DBSCAN — its ε and min_samples cannot be tuned to produce meaningful clusters here.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85616"/>
            <a:ext cx="4297680" cy="1243584"/>
          </a:xfrm>
          <a:prstGeom prst="rect">
            <a:avLst/>
          </a:prstGeom>
          <a:solidFill>
            <a:srgbClr val="10223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85616"/>
            <a:ext cx="4297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95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1540×39939 Matrix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18795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pivot table of 1,540 users × 39,939 products requires ~60M cells. NumPy handled it, but this won't scale to millions of users. Real-world systems use sparse matrix representations (scipy.sparse) or approximate nearest-neighbour methods.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785616"/>
            <a:ext cx="4297680" cy="1243584"/>
          </a:xfrm>
          <a:prstGeom prst="rect">
            <a:avLst/>
          </a:prstGeom>
          <a:solidFill>
            <a:srgbClr val="102233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785616"/>
            <a:ext cx="4297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95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Single Tree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4187952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at 82.65% showed classic overfitting — it fits the training data too precisely. Random Forest's ensemble of 100 trees (each seeing a random feature subset) reduces variance and generalises far better to unseen data: 87.23%.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Final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8412480" cy="731520"/>
          </a:xfrm>
          <a:prstGeom prst="rect">
            <a:avLst/>
          </a:prstGeom>
          <a:solidFill>
            <a:srgbClr val="102233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9264"/>
            <a:ext cx="109728" cy="731520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042416"/>
            <a:ext cx="1298448" cy="585216"/>
          </a:xfrm>
          <a:prstGeom prst="rect">
            <a:avLst/>
          </a:prstGeom>
          <a:solidFill>
            <a:srgbClr val="0A1F2E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042416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1060704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117,315 ratings · 1,540 users · 39,939 products after filtering. Average 4.01★. Median 5.0★. Response bias confirmed.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8412480" cy="731520"/>
          </a:xfrm>
          <a:prstGeom prst="rect">
            <a:avLst/>
          </a:prstGeom>
          <a:solidFill>
            <a:srgbClr val="102233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73936"/>
            <a:ext cx="109728" cy="7315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847088"/>
            <a:ext cx="1298448" cy="585216"/>
          </a:xfrm>
          <a:prstGeom prst="rect">
            <a:avLst/>
          </a:prstGeom>
          <a:solidFill>
            <a:srgbClr val="2A1F0A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47088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1865376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Clustering: Silhouette 0.5796 — best. KMeans: 0.4433. DBSCAN: failed (1 cluster, mostly noise).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78608"/>
            <a:ext cx="8412480" cy="731520"/>
          </a:xfrm>
          <a:prstGeom prst="rect">
            <a:avLst/>
          </a:prstGeom>
          <a:solidFill>
            <a:srgbClr val="10223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78608"/>
            <a:ext cx="109728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651760"/>
            <a:ext cx="1298448" cy="585216"/>
          </a:xfrm>
          <a:prstGeom prst="rect">
            <a:avLst/>
          </a:prstGeom>
          <a:solidFill>
            <a:srgbClr val="0A2A2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51760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2670048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1,540 × 1,540 cosine similarity matrix. For any target user, 5 similar users found → 5 unrated products recommended. All rated 5.0★.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731520"/>
          </a:xfrm>
          <a:prstGeom prst="rect">
            <a:avLst/>
          </a:prstGeom>
          <a:solidFill>
            <a:srgbClr val="102233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109728" cy="7315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456432"/>
            <a:ext cx="1298448" cy="585216"/>
          </a:xfrm>
          <a:prstGeom prst="rect">
            <a:avLst/>
          </a:prstGeom>
          <a:solidFill>
            <a:srgbClr val="0A1A2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56432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65960" y="3474720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82.65% accuracy. Recall (liked) = 0.89. Single tree — prone to overfitting training data.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8412480" cy="731520"/>
          </a:xfrm>
          <a:prstGeom prst="rect">
            <a:avLst/>
          </a:prstGeom>
          <a:solidFill>
            <a:srgbClr val="10223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87952"/>
            <a:ext cx="109728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261104"/>
            <a:ext cx="1298448" cy="585216"/>
          </a:xfrm>
          <a:prstGeom prst="rect">
            <a:avLst/>
          </a:prstGeom>
          <a:solidFill>
            <a:srgbClr val="0A2A2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261104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65960" y="4279392"/>
            <a:ext cx="6629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87.23% accuracy. Recall (liked) = 0.95. 100 trees. Ensemble reduces variance — clear winner.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requirements fully covered  ·  Shivas Jajala  ·  github.com/Shivas28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59536"/>
            <a:ext cx="914400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 used throughout the project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297680" cy="804672"/>
          </a:xfrm>
          <a:prstGeom prst="rect">
            <a:avLst/>
          </a:prstGeom>
          <a:solidFill>
            <a:srgbClr val="102233"/>
          </a:solidFill>
          <a:ln w="12700">
            <a:solidFill>
              <a:srgbClr val="1B98C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297680" cy="54864"/>
          </a:xfrm>
          <a:prstGeom prst="rect">
            <a:avLst/>
          </a:prstGeom>
          <a:solidFill>
            <a:srgbClr val="1B98C2"/>
          </a:solidFill>
          <a:ln w="12700">
            <a:solidFill>
              <a:srgbClr val="1B98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25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4297680" cy="804672"/>
          </a:xfrm>
          <a:prstGeom prst="rect">
            <a:avLst/>
          </a:prstGeom>
          <a:solidFill>
            <a:srgbClr val="102233"/>
          </a:solidFill>
          <a:ln w="12700">
            <a:solidFill>
              <a:srgbClr val="F4C54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15568"/>
            <a:ext cx="4297680" cy="5486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225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996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4297680" cy="804672"/>
          </a:xfrm>
          <a:prstGeom prst="rect">
            <a:avLst/>
          </a:prstGeom>
          <a:solidFill>
            <a:srgbClr val="102233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29968"/>
            <a:ext cx="429768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39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414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00600" y="2029968"/>
            <a:ext cx="4297680" cy="804672"/>
          </a:xfrm>
          <a:prstGeom prst="rect">
            <a:avLst/>
          </a:prstGeom>
          <a:solidFill>
            <a:srgbClr val="102233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029968"/>
            <a:ext cx="42976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1396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Clustering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4140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KMeans, Hierarchical, DBSCAN, Decision Tree, Random Forest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4297680" cy="804672"/>
          </a:xfrm>
          <a:prstGeom prst="rect">
            <a:avLst/>
          </a:prstGeom>
          <a:solidFill>
            <a:srgbClr val="102233"/>
          </a:solidFill>
          <a:ln w="1270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44368"/>
            <a:ext cx="4297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0540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328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cosine_similarity (sklearn.metrics.pairwise)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2944368"/>
            <a:ext cx="4297680" cy="804672"/>
          </a:xfrm>
          <a:prstGeom prst="rect">
            <a:avLst/>
          </a:prstGeom>
          <a:solidFill>
            <a:srgbClr val="102233"/>
          </a:solidFill>
          <a:ln w="12700">
            <a:solidFill>
              <a:srgbClr val="8EA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944368"/>
            <a:ext cx="4297680" cy="54864"/>
          </a:xfrm>
          <a:prstGeom prst="rect">
            <a:avLst/>
          </a:prstGeom>
          <a:solidFill>
            <a:srgbClr val="8EAFC4"/>
          </a:solidFill>
          <a:ln w="12700">
            <a:solidFill>
              <a:srgbClr val="8EA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0540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3284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· Conda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858768"/>
            <a:ext cx="4297680" cy="804672"/>
          </a:xfrm>
          <a:prstGeom prst="rect">
            <a:avLst/>
          </a:prstGeom>
          <a:solidFill>
            <a:srgbClr val="102233"/>
          </a:solidFill>
          <a:ln w="12700">
            <a:solidFill>
              <a:srgbClr val="E05C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858768"/>
            <a:ext cx="429768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9684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 (github.com/Shivas28)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A1520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70001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9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available at: https://github.com/Shivas28/Amazon-Recommendation-System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Product Recommendation System</dc:title>
  <dc:subject>PptxGenJS Presentation</dc:subject>
  <dc:creator>PptxGenJS</dc:creator>
  <cp:lastModifiedBy>శివాస్ జాజాల</cp:lastModifiedBy>
  <cp:revision>2</cp:revision>
  <dcterms:created xsi:type="dcterms:W3CDTF">2026-05-16T04:37:45Z</dcterms:created>
  <dcterms:modified xsi:type="dcterms:W3CDTF">2026-05-16T08:25:48Z</dcterms:modified>
</cp:coreProperties>
</file>